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C79CC-B669-48F9-FCCD-37A4ACDDD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E629D-B4B5-7BE1-7250-527CF461A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A1B8F-7D8D-4131-405C-78C30EF27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8DAA-53E6-4E74-B1D3-DF662B0454B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F13B4-D2DF-DE66-9C34-57EBFB0B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A764D-5DDC-9347-0860-4E50D125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3D907-CE87-4F39-982D-26DE34AB8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66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F3B9-1956-8580-1B4F-C7993D57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39BD8-1DAC-7309-8E94-91885C072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43AB7-FFCF-10B0-B20B-B253B2B2C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8DAA-53E6-4E74-B1D3-DF662B0454B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4C330-17BB-F0F8-C1E3-4600705C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8A766-DB18-AF4C-FBC1-4FDB12EF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3D907-CE87-4F39-982D-26DE34AB8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4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EE7CD-D424-7228-5A0D-26556E9A8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89339-E660-4E62-ED31-AC62702A4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5658A-6E31-7A0F-E3D7-D27F9A4F1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8DAA-53E6-4E74-B1D3-DF662B0454B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7DDEF-483F-5A10-9B8F-C34058932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71A7-521C-F6A4-51C2-A8864EEF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3D907-CE87-4F39-982D-26DE34AB8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9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F70F6-8780-EF03-8107-D350F7B25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D5CC4-F8B3-4EBC-FED0-43CCF9B8C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BBE35-67A8-E513-358E-59B952061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900AA-56C9-CEE5-2C47-51E0C33BD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8DAA-53E6-4E74-B1D3-DF662B0454B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536F4-55A7-618A-1EB3-0184B776C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B4935-B9DD-2F9D-7726-E7120678A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3D907-CE87-4F39-982D-26DE34AB8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D6B65-877B-C785-2C83-57C67B735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AF0E7-AEFE-7FE5-B29E-23445A3E4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963AF-E89A-4734-EAAD-262EF754C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47A693-FA3A-C23E-7C55-AC1B239A7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A31727-C9D4-A5F8-98BB-7FE35837B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DAA11C-68CD-044F-139C-169762BE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8DAA-53E6-4E74-B1D3-DF662B0454B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7A7DE7-C602-DCB8-E744-0ECD0E45A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277291-B7F7-EEBA-99A1-ACDF1386A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3D907-CE87-4F39-982D-26DE34AB8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1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4043-B257-7C63-EB87-8718176C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6D1816-C8E4-4334-0A38-2AA03B9C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8DAA-53E6-4E74-B1D3-DF662B0454B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6B025-EA0A-8673-CC16-5116DAE71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E0BC4-F98B-F115-F58B-A4B48B192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3D907-CE87-4F39-982D-26DE34AB8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10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224784-B5C3-028D-F865-9A151F122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8DAA-53E6-4E74-B1D3-DF662B0454B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4A2C0-087F-520C-AE28-A9BA23D96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F5F2-4D88-A90C-96C8-8FAAF83E4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3D907-CE87-4F39-982D-26DE34AB8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44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F515B-63BB-2A30-1939-07A037975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FA968-ECC7-2A26-9A26-7B525683E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685A2-28EF-7FCE-1820-C83CB4164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96F2E-C72A-7249-110E-73062FE00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8DAA-53E6-4E74-B1D3-DF662B0454B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C8B36-1424-349B-3BF7-A21E9FED9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E1DE7-939D-3EF3-A4B6-5272C667A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3D907-CE87-4F39-982D-26DE34AB8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3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8CCF0-B0DB-6940-0323-B85C28BC8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020847-3C39-5240-DD4F-F6B798A9B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2C12-BDB3-6E16-8C3E-144F01F9D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B1BF7-C393-04C2-24B8-CC236FFDF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8DAA-53E6-4E74-B1D3-DF662B0454B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CCCF2-2CBF-60D6-F8DD-97B28F11D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D895C-8555-9BF6-7780-B83A6A79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3D907-CE87-4F39-982D-26DE34AB8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79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5BDFB-04E5-EAD4-9ADD-E17549BA1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6E594-449E-B230-A4F5-D27A0A6FF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108F0-DBC6-9A3D-399C-F7EA0FD6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8DAA-53E6-4E74-B1D3-DF662B0454B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8A384-8451-180B-6E1B-FFDEE634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C7B9A-F463-D233-E59D-B1187039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3D907-CE87-4F39-982D-26DE34AB8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16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46170B-A4BE-9353-1EDF-B311242A8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69E86-2EAC-4583-BC19-5DBB9CD4F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FAE19-B6E3-0EAE-0829-472DAABB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8DAA-53E6-4E74-B1D3-DF662B0454B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7AA92-C7D3-05DB-A1CF-7FF702672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B21FE-FB62-7542-3FBA-A0451247F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3D907-CE87-4F39-982D-26DE34AB8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1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F4A0E-2AA8-CD87-4460-73A3EE0C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12BBA-FCE8-A1D8-C926-FB8D75E85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B442C-A97D-5D05-50F3-8057E468A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88DAA-53E6-4E74-B1D3-DF662B0454B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3A0C6-BC64-D9AB-881F-F818406BC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DDF73-10C9-9EF1-D44D-FC37313A5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3D907-CE87-4F39-982D-26DE34AB8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91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6206C-4DEB-AC42-688B-16A84E07D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8096" y="713232"/>
            <a:ext cx="9899904" cy="2057400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Plagiarism Detection Dashboard</a:t>
            </a:r>
            <a:r>
              <a:rPr lang="en-US" sz="5400" dirty="0"/>
              <a:t>: A Comparative Analysis using NLP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FF516-108B-0769-8A9C-35A0EBBA6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" y="2615184"/>
            <a:ext cx="11759184" cy="3822192"/>
          </a:xfrm>
        </p:spPr>
        <p:txBody>
          <a:bodyPr>
            <a:normAutofit fontScale="92500"/>
          </a:bodyPr>
          <a:lstStyle/>
          <a:p>
            <a:pPr algn="l"/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Develop an interactive web app to detect plagiarism using three NLP methods:</a:t>
            </a:r>
          </a:p>
          <a:p>
            <a:pPr algn="l"/>
            <a:r>
              <a:rPr lang="en-US" dirty="0"/>
              <a:t>TF-IDF</a:t>
            </a:r>
          </a:p>
          <a:p>
            <a:pPr algn="l"/>
            <a:r>
              <a:rPr lang="en-US" dirty="0"/>
              <a:t>Latent Semantic Indexing (LSI)</a:t>
            </a:r>
          </a:p>
          <a:p>
            <a:pPr algn="l"/>
            <a:r>
              <a:rPr lang="en-US" dirty="0"/>
              <a:t>Sentence-BERT</a:t>
            </a:r>
          </a:p>
          <a:p>
            <a:pPr algn="l"/>
            <a:r>
              <a:rPr lang="en-US" b="1" dirty="0"/>
              <a:t>Goal:</a:t>
            </a:r>
            <a:r>
              <a:rPr lang="en-US" dirty="0"/>
              <a:t> Create a smart dashboard to identify verbatim and paraphrased plagiarism efficiently.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                                                                                                     Submitted by: Harshal Borse, Manya Mittal</a:t>
            </a:r>
          </a:p>
          <a:p>
            <a:pPr algn="l"/>
            <a:r>
              <a:rPr lang="en-US" dirty="0"/>
              <a:t>                                                                                                         Course Instructor: Dr. Kuntal Dey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032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397D9-3C5F-30D2-EE26-5623B459B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18888"/>
            <a:ext cx="10966704" cy="1636776"/>
          </a:xfrm>
        </p:spPr>
        <p:txBody>
          <a:bodyPr>
            <a:normAutofit fontScale="90000"/>
          </a:bodyPr>
          <a:lstStyle/>
          <a:p>
            <a:r>
              <a:rPr lang="en-US" sz="2200" b="1" dirty="0"/>
              <a:t>Technology Stack:</a:t>
            </a:r>
            <a:br>
              <a:rPr lang="en-US" sz="2200" dirty="0"/>
            </a:br>
            <a:r>
              <a:rPr lang="en-US" sz="2200" b="1" dirty="0"/>
              <a:t>Language:</a:t>
            </a:r>
            <a:r>
              <a:rPr lang="en-US" sz="2200" dirty="0"/>
              <a:t> Python</a:t>
            </a:r>
            <a:br>
              <a:rPr lang="en-US" sz="2200" dirty="0"/>
            </a:br>
            <a:r>
              <a:rPr lang="en-US" sz="2200" b="1" dirty="0"/>
              <a:t>Framework:</a:t>
            </a:r>
            <a:r>
              <a:rPr lang="en-US" sz="2200" dirty="0"/>
              <a:t> Streamlit</a:t>
            </a:r>
            <a:br>
              <a:rPr lang="en-US" sz="2200" dirty="0"/>
            </a:br>
            <a:r>
              <a:rPr lang="en-US" sz="2200" b="1" dirty="0"/>
              <a:t>Libraries:</a:t>
            </a:r>
            <a:r>
              <a:rPr lang="en-US" sz="2200" dirty="0"/>
              <a:t> scikit-learn, sentence-transformers, Pandas, NumPy, </a:t>
            </a:r>
            <a:r>
              <a:rPr lang="en-US" sz="2200" dirty="0" err="1"/>
              <a:t>Plotly</a:t>
            </a:r>
            <a:br>
              <a:rPr lang="en-US" sz="2200" dirty="0"/>
            </a:br>
            <a:r>
              <a:rPr lang="en-US" sz="2200" b="1" dirty="0"/>
              <a:t>Flow Summary:</a:t>
            </a:r>
            <a:br>
              <a:rPr lang="en-US" sz="2200" dirty="0"/>
            </a:br>
            <a:r>
              <a:rPr lang="en-US" sz="2200" dirty="0"/>
              <a:t>User uploads text → Model comparison → Results visualization &amp; CSV export.</a:t>
            </a:r>
            <a:br>
              <a:rPr lang="en-US" sz="2200" dirty="0"/>
            </a:b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DF4A7C-F12A-1570-25F0-9EED8962A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528" y="64008"/>
            <a:ext cx="5065776" cy="506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25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B65DB-1242-AE48-4C6B-76FC1A220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13119"/>
            <a:ext cx="9982200" cy="869377"/>
          </a:xfrm>
        </p:spPr>
        <p:txBody>
          <a:bodyPr>
            <a:normAutofit/>
          </a:bodyPr>
          <a:lstStyle/>
          <a:p>
            <a:r>
              <a:rPr lang="en-US" sz="5400" dirty="0"/>
              <a:t>Methodologies &amp; 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5ABDE-C3C5-44A6-7486-9323E31E4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291076"/>
            <a:ext cx="9144000" cy="155444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DC9BC5-3FDD-667D-1E54-2258E77DE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120140"/>
              </p:ext>
            </p:extLst>
          </p:nvPr>
        </p:nvGraphicFramePr>
        <p:xfrm>
          <a:off x="1016000" y="1883664"/>
          <a:ext cx="10103104" cy="3621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5776">
                  <a:extLst>
                    <a:ext uri="{9D8B030D-6E8A-4147-A177-3AD203B41FA5}">
                      <a16:colId xmlns:a16="http://schemas.microsoft.com/office/drawing/2014/main" val="428368519"/>
                    </a:ext>
                  </a:extLst>
                </a:gridCol>
                <a:gridCol w="2525776">
                  <a:extLst>
                    <a:ext uri="{9D8B030D-6E8A-4147-A177-3AD203B41FA5}">
                      <a16:colId xmlns:a16="http://schemas.microsoft.com/office/drawing/2014/main" val="694719839"/>
                    </a:ext>
                  </a:extLst>
                </a:gridCol>
                <a:gridCol w="2525776">
                  <a:extLst>
                    <a:ext uri="{9D8B030D-6E8A-4147-A177-3AD203B41FA5}">
                      <a16:colId xmlns:a16="http://schemas.microsoft.com/office/drawing/2014/main" val="2150321694"/>
                    </a:ext>
                  </a:extLst>
                </a:gridCol>
                <a:gridCol w="2525776">
                  <a:extLst>
                    <a:ext uri="{9D8B030D-6E8A-4147-A177-3AD203B41FA5}">
                      <a16:colId xmlns:a16="http://schemas.microsoft.com/office/drawing/2014/main" val="3323495904"/>
                    </a:ext>
                  </a:extLst>
                </a:gridCol>
              </a:tblGrid>
              <a:tr h="905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0497936"/>
                  </a:ext>
                </a:extLst>
              </a:tr>
              <a:tr h="905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TF-IDF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Keyword-based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Verbatim plagiarism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Fails with paraphrasing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64664"/>
                  </a:ext>
                </a:extLst>
              </a:tr>
              <a:tr h="905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LSI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Topic modeling via SVD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Synonyms &amp; conceptual similarity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Needs large corpus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377364"/>
                  </a:ext>
                </a:extLst>
              </a:tr>
              <a:tr h="905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Sentence-BERT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Deep semantic 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Paraphrased &amp; restructured 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Computationally heavy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382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3146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35569-3F47-433E-7D6C-B3655AF19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20" y="329185"/>
            <a:ext cx="10165080" cy="1005839"/>
          </a:xfrm>
        </p:spPr>
        <p:txBody>
          <a:bodyPr>
            <a:normAutofit/>
          </a:bodyPr>
          <a:lstStyle/>
          <a:p>
            <a:r>
              <a:rPr lang="en-US" sz="5400" dirty="0"/>
              <a:t>Results &amp;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7D0486-486B-0AEE-ED1C-C4B3A1762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792" y="3867912"/>
            <a:ext cx="11009376" cy="2816352"/>
          </a:xfrm>
        </p:spPr>
        <p:txBody>
          <a:bodyPr/>
          <a:lstStyle/>
          <a:p>
            <a:pPr algn="l"/>
            <a:r>
              <a:rPr lang="en-US" sz="2200" b="1" dirty="0"/>
              <a:t>Key Takeaway:</a:t>
            </a:r>
            <a:endParaRPr lang="en-US" sz="2200" dirty="0"/>
          </a:p>
          <a:p>
            <a:pPr algn="l"/>
            <a:r>
              <a:rPr lang="en-US" sz="2200" b="1" dirty="0"/>
              <a:t>Sentence-BERT</a:t>
            </a:r>
            <a:r>
              <a:rPr lang="en-US" sz="2200" dirty="0"/>
              <a:t> best captures meaning beyond surface text.</a:t>
            </a:r>
          </a:p>
          <a:p>
            <a:pPr algn="l"/>
            <a:r>
              <a:rPr lang="en-US" sz="2200" b="1" dirty="0"/>
              <a:t>TF-IDF</a:t>
            </a:r>
            <a:r>
              <a:rPr lang="en-US" sz="2200" dirty="0"/>
              <a:t> is limited to word-level overlap.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1C3CCB-2ACE-79FB-1C8E-61BC0B4E6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183662"/>
              </p:ext>
            </p:extLst>
          </p:nvPr>
        </p:nvGraphicFramePr>
        <p:xfrm>
          <a:off x="960120" y="1481328"/>
          <a:ext cx="9707880" cy="1947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960">
                  <a:extLst>
                    <a:ext uri="{9D8B030D-6E8A-4147-A177-3AD203B41FA5}">
                      <a16:colId xmlns:a16="http://schemas.microsoft.com/office/drawing/2014/main" val="3993410938"/>
                    </a:ext>
                  </a:extLst>
                </a:gridCol>
                <a:gridCol w="3235960">
                  <a:extLst>
                    <a:ext uri="{9D8B030D-6E8A-4147-A177-3AD203B41FA5}">
                      <a16:colId xmlns:a16="http://schemas.microsoft.com/office/drawing/2014/main" val="3452813979"/>
                    </a:ext>
                  </a:extLst>
                </a:gridCol>
                <a:gridCol w="3235960">
                  <a:extLst>
                    <a:ext uri="{9D8B030D-6E8A-4147-A177-3AD203B41FA5}">
                      <a16:colId xmlns:a16="http://schemas.microsoft.com/office/drawing/2014/main" val="3207119261"/>
                    </a:ext>
                  </a:extLst>
                </a:gridCol>
              </a:tblGrid>
              <a:tr h="48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Similarity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Grade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5148958"/>
                  </a:ext>
                </a:extLst>
              </a:tr>
              <a:tr h="48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TF-IDF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4836696"/>
                  </a:ext>
                </a:extLst>
              </a:tr>
              <a:tr h="48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965965"/>
                  </a:ext>
                </a:extLst>
              </a:tr>
              <a:tr h="48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Sentence-BERT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820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84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D2587-5295-1C6C-0883-077C24DF6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758953"/>
            <a:ext cx="10073640" cy="1069847"/>
          </a:xfrm>
        </p:spPr>
        <p:txBody>
          <a:bodyPr>
            <a:normAutofit/>
          </a:bodyPr>
          <a:lstStyle/>
          <a:p>
            <a:r>
              <a:rPr lang="en-US" sz="5400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22450-298F-B3C5-492F-BF7708DA7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2121408"/>
            <a:ext cx="7178040" cy="3136392"/>
          </a:xfrm>
        </p:spPr>
        <p:txBody>
          <a:bodyPr>
            <a:noAutofit/>
          </a:bodyPr>
          <a:lstStyle/>
          <a:p>
            <a:pPr algn="l"/>
            <a:r>
              <a:rPr lang="en-US" sz="2200" dirty="0"/>
              <a:t>The Plagiarism Detection Dashboard effectively demonstrates:</a:t>
            </a:r>
          </a:p>
          <a:p>
            <a:pPr algn="l"/>
            <a:r>
              <a:rPr lang="en-US" sz="2200" dirty="0"/>
              <a:t>TF-IDF → surface-level accuracy</a:t>
            </a:r>
          </a:p>
          <a:p>
            <a:pPr algn="l"/>
            <a:r>
              <a:rPr lang="en-US" sz="2200" dirty="0"/>
              <a:t>LSI → topic-based understanding</a:t>
            </a:r>
          </a:p>
          <a:p>
            <a:pPr algn="l"/>
            <a:r>
              <a:rPr lang="en-US" sz="2200" dirty="0"/>
              <a:t>Sentence-BERT → semantic-level intelligence</a:t>
            </a:r>
          </a:p>
          <a:p>
            <a:pPr algn="l"/>
            <a:r>
              <a:rPr lang="en-US" sz="2200" b="1" dirty="0"/>
              <a:t>Final Verdict:</a:t>
            </a:r>
            <a:r>
              <a:rPr lang="en-US" sz="2200" dirty="0"/>
              <a:t> Sentence-BERT leads the pack for modern, paraphrased plagiarism detection.</a:t>
            </a:r>
          </a:p>
          <a:p>
            <a:pPr algn="l"/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908229-F4FA-4F3D-AF27-D2A9278FE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928" y="1444053"/>
            <a:ext cx="4447032" cy="444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850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215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Plagiarism Detection Dashboard: A Comparative Analysis using NLP </vt:lpstr>
      <vt:lpstr>Technology Stack: Language: Python Framework: Streamlit Libraries: scikit-learn, sentence-transformers, Pandas, NumPy, Plotly Flow Summary: User uploads text → Model comparison → Results visualization &amp; CSV export. </vt:lpstr>
      <vt:lpstr>Methodologies &amp; Comparison</vt:lpstr>
      <vt:lpstr>Results &amp;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Manya Mittal</dc:creator>
  <cp:lastModifiedBy>Manya Mittal</cp:lastModifiedBy>
  <cp:revision>1</cp:revision>
  <dcterms:created xsi:type="dcterms:W3CDTF">2025-11-08T15:42:47Z</dcterms:created>
  <dcterms:modified xsi:type="dcterms:W3CDTF">2025-11-08T15:56:39Z</dcterms:modified>
</cp:coreProperties>
</file>